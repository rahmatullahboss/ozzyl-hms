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2" r:id="rId6"/>
    <p:sldId id="257" r:id="rId7"/>
    <p:sldId id="265" r:id="rId8"/>
    <p:sldId id="263" r:id="rId9"/>
    <p:sldId id="264" r:id="rId10"/>
    <p:sldId id="266" r:id="rId11"/>
    <p:sldId id="267" r:id="rId12"/>
  </p:sldIdLst>
  <p:sldSz cx="18288000" cy="10287000"/>
  <p:notesSz cx="6858000" cy="9144000"/>
  <p:embeddedFontLst>
    <p:embeddedFont>
      <p:font typeface="Arimo Bold" panose="020B0604020202020204" charset="0"/>
      <p:regular r:id="rId13"/>
      <p:bold r:id="rId14"/>
    </p:embeddedFont>
    <p:embeddedFont>
      <p:font typeface="Croogla" panose="020B0604020202020204" charset="0"/>
      <p:regular r:id="rId15"/>
    </p:embeddedFont>
    <p:embeddedFont>
      <p:font typeface="Croogla Bold" panose="020B0604020202020204" charset="0"/>
      <p:regular r:id="rId16"/>
      <p:bold r:id="rId17"/>
    </p:embeddedFont>
    <p:embeddedFont>
      <p:font typeface="Delm" panose="020B0604020202020204" charset="0"/>
      <p:regular r:id="rId18"/>
    </p:embeddedFont>
    <p:embeddedFont>
      <p:font typeface="Gabriel Sans Bold" panose="020B0604020202020204" charset="0"/>
      <p:regular r:id="rId19"/>
      <p:bold r:id="rId20"/>
    </p:embeddedFont>
    <p:embeddedFont>
      <p:font typeface="Gabriel Sans Condensed" panose="020B0604020202020204" charset="0"/>
      <p:regular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2B8596-63D8-E069-F069-2A732F9EC39F}" name="dr ap" initials="da" userId="2557b405fdd5598a" providerId="Windows Live"/>
  <p188:author id="{A0E6BBF4-78D1-0400-996C-32E717E8689B}" name="Sadia Haque" initials="SH" userId="6b3f1aa0378bb4c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46" autoAdjust="0"/>
  </p:normalViewPr>
  <p:slideViewPr>
    <p:cSldViewPr>
      <p:cViewPr varScale="1">
        <p:scale>
          <a:sx n="39" d="100"/>
          <a:sy n="39" d="100"/>
        </p:scale>
        <p:origin x="1320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font" Target="fonts/font11.fntdata"/><Relationship Id="rId24" Type="http://schemas.openxmlformats.org/officeDocument/2006/relationships/font" Target="fonts/font12.fntdata"/><Relationship Id="rId25" Type="http://schemas.openxmlformats.org/officeDocument/2006/relationships/font" Target="fonts/font13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8/10/relationships/authors" Target="author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image" Target="../media/image23.png"/><Relationship Id="rId9" Type="http://schemas.openxmlformats.org/officeDocument/2006/relationships/image" Target="../media/image24.svg"/><Relationship Id="rId10" Type="http://schemas.openxmlformats.org/officeDocument/2006/relationships/image" Target="../media/image25.png"/><Relationship Id="rId11" Type="http://schemas.openxmlformats.org/officeDocument/2006/relationships/image" Target="../media/image26.svg"/><Relationship Id="rId12" Type="http://schemas.openxmlformats.org/officeDocument/2006/relationships/image" Target="../media/image27.png"/><Relationship Id="rId13" Type="http://schemas.openxmlformats.org/officeDocument/2006/relationships/image" Target="../media/image28.svg"/><Relationship Id="rId14" Type="http://schemas.openxmlformats.org/officeDocument/2006/relationships/image" Target="../media/image29.png"/><Relationship Id="rId15" Type="http://schemas.openxmlformats.org/officeDocument/2006/relationships/image" Target="../media/image30.svg"/><Relationship Id="rId16" Type="http://schemas.openxmlformats.org/officeDocument/2006/relationships/image" Target="../media/image31.png"/><Relationship Id="rId17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1199731" y="1374974"/>
            <a:ext cx="678078" cy="678078"/>
          </a:xfrm>
          <a:custGeom>
            <a:avLst/>
            <a:gdLst/>
            <a:ahLst/>
            <a:cxnLst/>
            <a:rect l="l" t="t" r="r" b="b"/>
            <a:pathLst>
              <a:path w="678078" h="678078">
                <a:moveTo>
                  <a:pt x="0" y="0"/>
                </a:moveTo>
                <a:lnTo>
                  <a:pt x="678079" y="0"/>
                </a:lnTo>
                <a:lnTo>
                  <a:pt x="678079" y="678079"/>
                </a:lnTo>
                <a:lnTo>
                  <a:pt x="0" y="67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7" name="AutoShape 17"/>
          <p:cNvSpPr/>
          <p:nvPr/>
        </p:nvSpPr>
        <p:spPr>
          <a:xfrm>
            <a:off x="748301" y="7562621"/>
            <a:ext cx="0" cy="2724379"/>
          </a:xfrm>
          <a:prstGeom prst="line">
            <a:avLst/>
          </a:prstGeom>
          <a:ln w="38100" cap="flat">
            <a:solidFill>
              <a:srgbClr val="FFBD59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8" name="TextBox 18"/>
          <p:cNvSpPr txBox="1"/>
          <p:nvPr/>
        </p:nvSpPr>
        <p:spPr>
          <a:xfrm>
            <a:off x="1199731" y="1653003"/>
            <a:ext cx="11326551" cy="2971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94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2E3C99"/>
                </a:solidFill>
                <a:latin typeface="Croogla Bold"/>
                <a:ea typeface="Croogla Bold"/>
                <a:cs typeface="Croogla Bold"/>
                <a:sym typeface="Croogla Bold"/>
              </a:rPr>
              <a:t>ozzyl.com  |  Dhaka, Bangladesh  |  HealthTech SaaS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01600" y="-647700"/>
            <a:ext cx="5201069" cy="1558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576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91312"/>
                </a:solidFill>
                <a:latin typeface="Croogla Bold"/>
                <a:ea typeface="Croogla Bold"/>
                <a:cs typeface="Croogla Bold"/>
                <a:sym typeface="Croogla Bold"/>
              </a:rPr>
              <a:t>OZZYL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58135" y="1409232"/>
            <a:ext cx="402778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191312"/>
                </a:solidFill>
                <a:latin typeface="Croogla"/>
                <a:ea typeface="Croogla"/>
                <a:cs typeface="Croogla"/>
                <a:sym typeface="Croogla"/>
              </a:rPr>
              <a:t>ozzyl.com  |  Dhaka, Bangladesh  |  HealthTech SaaS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9731" y="4330458"/>
            <a:ext cx="7075656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 dirty="0">
                <a:latin typeface="Delm"/>
                <a:ea typeface="Delm"/>
                <a:cs typeface="Delm"/>
                <a:sym typeface="Delm"/>
              </a:rPr>
              <a:t>STARTUP TAGLINE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8098293"/>
            <a:ext cx="6058042" cy="40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10" dirty="0">
                <a:solidFill>
                  <a:srgbClr val="2B388F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Website/Social link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8624390"/>
            <a:ext cx="6058042" cy="40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10" dirty="0">
                <a:solidFill>
                  <a:srgbClr val="2B388F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Email address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9150487"/>
            <a:ext cx="6058042" cy="40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10" dirty="0">
                <a:solidFill>
                  <a:srgbClr val="2B388F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Office address</a:t>
            </a:r>
          </a:p>
        </p:txBody>
      </p:sp>
      <p:sp>
        <p:nvSpPr>
          <p:cNvPr id="2" name="TextBox 21">
            <a:extLst>
              <a:ext uri="{FF2B5EF4-FFF2-40B4-BE49-F238E27FC236}">
                <a16:creationId xmlns:a16="http://schemas.microsoft.com/office/drawing/2014/main" id="{68B30451-9550-B9CF-43A8-6F8FE5CDDA94}"/>
              </a:ext>
            </a:extLst>
          </p:cNvPr>
          <p:cNvSpPr txBox="1"/>
          <p:nvPr/>
        </p:nvSpPr>
        <p:spPr>
          <a:xfrm>
            <a:off x="1028700" y="6036909"/>
            <a:ext cx="7075656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 dirty="0">
                <a:latin typeface="Delm"/>
                <a:ea typeface="Delm"/>
                <a:cs typeface="Delm"/>
                <a:sym typeface="Delm"/>
              </a:rPr>
              <a:t>STARTUP SECTOR: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991534" y="102870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6" name="Freeform 6"/>
          <p:cNvSpPr/>
          <p:nvPr/>
        </p:nvSpPr>
        <p:spPr>
          <a:xfrm>
            <a:off x="991534" y="802811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7" name="Freeform 7"/>
          <p:cNvSpPr/>
          <p:nvPr/>
        </p:nvSpPr>
        <p:spPr>
          <a:xfrm rot="5400000">
            <a:off x="337466" y="356884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8" name="Freeform 8"/>
          <p:cNvSpPr/>
          <p:nvPr/>
        </p:nvSpPr>
        <p:spPr>
          <a:xfrm rot="5400000">
            <a:off x="337466" y="6341046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8"/>
                </a:lnTo>
                <a:lnTo>
                  <a:pt x="0" y="368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9" name="Freeform 9"/>
          <p:cNvSpPr/>
          <p:nvPr/>
        </p:nvSpPr>
        <p:spPr>
          <a:xfrm rot="5400000">
            <a:off x="337466" y="-653091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0" name="Freeform 10"/>
          <p:cNvSpPr/>
          <p:nvPr/>
        </p:nvSpPr>
        <p:spPr>
          <a:xfrm rot="5400000">
            <a:off x="337466" y="1058155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2" name="TextBox 12"/>
          <p:cNvSpPr txBox="1"/>
          <p:nvPr/>
        </p:nvSpPr>
        <p:spPr>
          <a:xfrm>
            <a:off x="2824547" y="981075"/>
            <a:ext cx="7602350" cy="179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60"/>
              </a:lnSpc>
              <a:spcBef>
                <a:spcPct val="0"/>
              </a:spcBef>
            </a:pPr>
            <a:r>
              <a:rPr lang="en-US" sz="10400" b="1" dirty="0">
                <a:solidFill>
                  <a:srgbClr val="2B388F"/>
                </a:solidFill>
                <a:latin typeface="Croogla Bold"/>
                <a:ea typeface="Croogla Bold"/>
                <a:cs typeface="Croogla Bold"/>
                <a:sym typeface="Croogla Bold"/>
              </a:rPr>
              <a:t>PROBLEM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24547" y="2289494"/>
            <a:ext cx="7602350" cy="113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191312"/>
                </a:solidFill>
                <a:latin typeface="Croogla Bold"/>
                <a:ea typeface="Croogla Bold"/>
                <a:cs typeface="Croogla Bold"/>
                <a:sym typeface="Croogla Bold"/>
              </a:rPr>
              <a:t>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24546" y="4198638"/>
            <a:ext cx="13253653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Segoe UI" panose="020B0502040204020203" pitchFamily="34" charset="0"/>
              </a:rPr>
              <a:t>1. Fragmented health records — patients repeat history at every visit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effectLst/>
              <a:latin typeface="Segoe UI" panose="020B05020402040202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  <a:latin typeface="Segoe UI" panose="020B0502040204020203" pitchFamily="34" charset="0"/>
              </a:rPr>
              <a:t>Solution Statement that the startup is offering.</a:t>
            </a:r>
            <a:endParaRPr lang="en-US" sz="8000" dirty="0">
              <a:solidFill>
                <a:srgbClr val="191312"/>
              </a:solidFill>
              <a:latin typeface="Delm"/>
              <a:ea typeface="Delm"/>
              <a:cs typeface="Delm"/>
              <a:sym typeface="Del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4547" y="339794"/>
            <a:ext cx="7708106" cy="1812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59"/>
              </a:lnSpc>
              <a:spcBef>
                <a:spcPct val="0"/>
              </a:spcBef>
            </a:pPr>
            <a:r>
              <a:rPr lang="en-US" sz="10399" b="1" dirty="0">
                <a:solidFill>
                  <a:srgbClr val="2B388F"/>
                </a:solidFill>
                <a:latin typeface="Croogla Bold"/>
                <a:ea typeface="Croogla Bold"/>
                <a:cs typeface="Croogla Bold"/>
                <a:sym typeface="Croogla Bold"/>
              </a:rPr>
              <a:t>OUR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63349" y="1525022"/>
            <a:ext cx="4852154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191312"/>
                </a:solidFill>
                <a:latin typeface="Croogla Bold"/>
                <a:ea typeface="Croogla Bold"/>
                <a:cs typeface="Croogla Bold"/>
                <a:sym typeface="Croogla Bold"/>
              </a:rPr>
              <a:t>&amp; ECOSYSTEM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63349" y="3880654"/>
            <a:ext cx="13011262" cy="2525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A two-sided integrated health ecosystem: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endParaRPr lang="en-US" sz="4400" dirty="0">
              <a:solidFill>
                <a:srgbClr val="191312"/>
              </a:solidFill>
              <a:latin typeface="Segoe UI" panose="020B0502040204020203" pitchFamily="34" charset="0"/>
              <a:ea typeface="Delm"/>
              <a:cs typeface="Segoe UI" panose="020B0502040204020203" pitchFamily="34" charset="0"/>
              <a:sym typeface="Delm"/>
            </a:endParaRP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44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FOR PATIENTS — Ozzyl Lifestyle App (Free)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Unified health profile with Universal Health ID (UHID)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Daily tracking: vitals, nutrition, activity, sleep, mental health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Medication history, reminders, barcode-based food logging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Hospital search, doctor reviews, appointment booking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Women's health (cycle tracking, pregnancy mode)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Mental health screenings (PHQ-9, GAD-7)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Medical document vault, family health hub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FOR HOSPITALS — Ozzyl HMS (SaaS)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Cloud-native Hospital Management System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AI-powered clinical assistant — instant patient overview for doctors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Complete billing, pharmacy, laboratory, OT management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Multi-role portals (Reception, Lab, Pharmacy, Admin, Director)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Segoe UI" panose="020B0502040204020203" pitchFamily="34" charset="0"/>
                <a:ea typeface="Delm"/>
                <a:cs typeface="Segoe UI" panose="020B0502040204020203" pitchFamily="34" charset="0"/>
                <a:sym typeface="Delm"/>
              </a:rPr>
              <a:t>• Bilingual (English + Bengali), zero hardware needed</a:t>
            </a:r>
          </a:p>
        </p:txBody>
      </p:sp>
      <p:sp>
        <p:nvSpPr>
          <p:cNvPr id="9" name="Freeform 9"/>
          <p:cNvSpPr/>
          <p:nvPr/>
        </p:nvSpPr>
        <p:spPr>
          <a:xfrm>
            <a:off x="991534" y="102870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0" name="Freeform 10"/>
          <p:cNvSpPr/>
          <p:nvPr/>
        </p:nvSpPr>
        <p:spPr>
          <a:xfrm>
            <a:off x="991534" y="802811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1" name="Freeform 11"/>
          <p:cNvSpPr/>
          <p:nvPr/>
        </p:nvSpPr>
        <p:spPr>
          <a:xfrm rot="5400000">
            <a:off x="337466" y="356884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2" name="Freeform 12"/>
          <p:cNvSpPr/>
          <p:nvPr/>
        </p:nvSpPr>
        <p:spPr>
          <a:xfrm rot="5400000">
            <a:off x="337466" y="6341046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8"/>
                </a:lnTo>
                <a:lnTo>
                  <a:pt x="0" y="368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3" name="Freeform 13"/>
          <p:cNvSpPr/>
          <p:nvPr/>
        </p:nvSpPr>
        <p:spPr>
          <a:xfrm rot="5400000">
            <a:off x="337466" y="-653091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4" name="Freeform 14"/>
          <p:cNvSpPr/>
          <p:nvPr/>
        </p:nvSpPr>
        <p:spPr>
          <a:xfrm rot="5400000">
            <a:off x="337466" y="1058155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4800" y="690476"/>
            <a:ext cx="7982795" cy="179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560"/>
              </a:lnSpc>
              <a:spcBef>
                <a:spcPct val="0"/>
              </a:spcBef>
            </a:pPr>
            <a:r>
              <a:rPr lang="en-US" sz="10400" b="1" dirty="0">
                <a:solidFill>
                  <a:srgbClr val="2B388F"/>
                </a:solidFill>
                <a:latin typeface="Croogla Bold"/>
                <a:ea typeface="Croogla Bold"/>
                <a:cs typeface="Croogla Bold"/>
                <a:sym typeface="Croogla Bold"/>
              </a:rPr>
              <a:t>MARKET SIZE &amp;</a:t>
            </a:r>
          </a:p>
        </p:txBody>
      </p:sp>
      <p:sp>
        <p:nvSpPr>
          <p:cNvPr id="5" name="Freeform 5"/>
          <p:cNvSpPr/>
          <p:nvPr/>
        </p:nvSpPr>
        <p:spPr>
          <a:xfrm>
            <a:off x="7289174" y="817635"/>
            <a:ext cx="1651205" cy="1812022"/>
          </a:xfrm>
          <a:custGeom>
            <a:avLst/>
            <a:gdLst/>
            <a:ahLst/>
            <a:cxnLst/>
            <a:rect l="l" t="t" r="r" b="b"/>
            <a:pathLst>
              <a:path w="1651205" h="1812022">
                <a:moveTo>
                  <a:pt x="0" y="0"/>
                </a:moveTo>
                <a:lnTo>
                  <a:pt x="1651205" y="0"/>
                </a:lnTo>
                <a:lnTo>
                  <a:pt x="1651205" y="1812022"/>
                </a:lnTo>
                <a:lnTo>
                  <a:pt x="0" y="1812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6" name="TextBox 6"/>
          <p:cNvSpPr txBox="1"/>
          <p:nvPr/>
        </p:nvSpPr>
        <p:spPr>
          <a:xfrm>
            <a:off x="2590800" y="2975628"/>
            <a:ext cx="150114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t>GLOBAL DIGITAL HEALTH: $573B–$946B by 2030 (22-23% CAGR)</a:t>
            </a:r>
            <a:br/>
            <a:r>
              <a:t>BANGLADESH MARKET: $14B (2025) → $23B by 2033</a:t>
            </a:r>
            <a:br/>
            <a:r>
              <a:t>• 5,000+ registered hospitals &amp; clinics</a:t>
            </a:r>
            <a:br/>
            <a:r>
              <a:t>• 70M+ smartphone users | Digital Health growing 10%+ CAGR</a:t>
            </a:r>
            <a:br/>
            <a:r>
              <a:t>• Govt Strategy 2027 mandates hospital digitization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991534" y="102870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1" name="Freeform 11"/>
          <p:cNvSpPr/>
          <p:nvPr/>
        </p:nvSpPr>
        <p:spPr>
          <a:xfrm>
            <a:off x="991534" y="802811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2" name="Freeform 12"/>
          <p:cNvSpPr/>
          <p:nvPr/>
        </p:nvSpPr>
        <p:spPr>
          <a:xfrm rot="5400000">
            <a:off x="337466" y="356884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3" name="Freeform 13"/>
          <p:cNvSpPr/>
          <p:nvPr/>
        </p:nvSpPr>
        <p:spPr>
          <a:xfrm rot="5400000">
            <a:off x="337466" y="6341046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8"/>
                </a:lnTo>
                <a:lnTo>
                  <a:pt x="0" y="3680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4" name="Freeform 14"/>
          <p:cNvSpPr/>
          <p:nvPr/>
        </p:nvSpPr>
        <p:spPr>
          <a:xfrm rot="5400000">
            <a:off x="337466" y="-653091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5" name="Freeform 15"/>
          <p:cNvSpPr/>
          <p:nvPr/>
        </p:nvSpPr>
        <p:spPr>
          <a:xfrm rot="5400000">
            <a:off x="337466" y="1058155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4546" y="722943"/>
            <a:ext cx="7843453" cy="1771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720"/>
              </a:lnSpc>
              <a:spcBef>
                <a:spcPct val="0"/>
              </a:spcBef>
            </a:pPr>
            <a:r>
              <a:rPr lang="en-US" sz="11800" b="1" dirty="0">
                <a:solidFill>
                  <a:srgbClr val="2E3C99"/>
                </a:solidFill>
                <a:latin typeface="Croogla Bold"/>
                <a:ea typeface="Croogla Bold"/>
                <a:cs typeface="Croogla Bold"/>
                <a:sym typeface="Croogla Bold"/>
              </a:rPr>
              <a:t>BUSINESS MODEL &amp;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21724" y="3086100"/>
            <a:ext cx="13011262" cy="565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t>REVENUE STREAMS:</a:t>
            </a:r>
            <a:br/>
            <a:r>
              <a:t>1. HMS Setup Fee — BDT 15,000–1,00,000 (One-time)</a:t>
            </a:r>
            <a:br/>
            <a:r>
              <a:t>2. Monthly Subscription — BDT 3,000–25,000/month</a:t>
            </a:r>
            <a:br/>
            <a:r>
              <a:t>3. AI Clinical Features — BDT 2,000–10,000/month add-on</a:t>
            </a:r>
            <a:br/>
            <a:r>
              <a:t>4. Partner Commissions — 5-10% from lab &amp; pharmacy</a:t>
            </a:r>
            <a:br/>
            <a:br/>
            <a:r>
              <a:t>TECH: Cloudflare Edge + D1 + Gemini AI (Clinical Intelligence)</a:t>
            </a:r>
          </a:p>
        </p:txBody>
      </p:sp>
      <p:sp>
        <p:nvSpPr>
          <p:cNvPr id="7" name="Freeform 7"/>
          <p:cNvSpPr/>
          <p:nvPr/>
        </p:nvSpPr>
        <p:spPr>
          <a:xfrm>
            <a:off x="991534" y="102870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8" name="Freeform 8"/>
          <p:cNvSpPr/>
          <p:nvPr/>
        </p:nvSpPr>
        <p:spPr>
          <a:xfrm>
            <a:off x="991534" y="802811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9" name="Freeform 9"/>
          <p:cNvSpPr/>
          <p:nvPr/>
        </p:nvSpPr>
        <p:spPr>
          <a:xfrm rot="5400000">
            <a:off x="337466" y="356884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0" name="Freeform 10"/>
          <p:cNvSpPr/>
          <p:nvPr/>
        </p:nvSpPr>
        <p:spPr>
          <a:xfrm rot="5400000">
            <a:off x="337466" y="6341046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8"/>
                </a:lnTo>
                <a:lnTo>
                  <a:pt x="0" y="368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1" name="Freeform 11"/>
          <p:cNvSpPr/>
          <p:nvPr/>
        </p:nvSpPr>
        <p:spPr>
          <a:xfrm rot="5400000">
            <a:off x="337466" y="-653091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2" name="Freeform 12"/>
          <p:cNvSpPr/>
          <p:nvPr/>
        </p:nvSpPr>
        <p:spPr>
          <a:xfrm rot="5400000">
            <a:off x="337466" y="1058155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711319" y="1028700"/>
            <a:ext cx="2328469" cy="232846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11319" y="5433592"/>
            <a:ext cx="2328469" cy="232846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06535" y="1028700"/>
            <a:ext cx="2328469" cy="232846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BD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706535" y="5433592"/>
            <a:ext cx="2328469" cy="232846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BD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40226" y="3425334"/>
            <a:ext cx="7557499" cy="2961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439"/>
              </a:lnSpc>
            </a:pPr>
            <a:r>
              <a:rPr lang="en-US" sz="10399" b="1" dirty="0">
                <a:solidFill>
                  <a:srgbClr val="2E3C99"/>
                </a:solidFill>
                <a:latin typeface="Croogla Bold"/>
                <a:ea typeface="Croogla Bold"/>
                <a:cs typeface="Croogla Bold"/>
                <a:sym typeface="Croogla Bold"/>
              </a:rPr>
              <a:t>MEET THE TEAM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3562071"/>
            <a:ext cx="3463106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spc="250">
                <a:solidFill>
                  <a:srgbClr val="3F2305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[Dev Lead]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7971610"/>
            <a:ext cx="3463106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spc="250">
                <a:solidFill>
                  <a:srgbClr val="3F2305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[Your Name]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39217" y="3562071"/>
            <a:ext cx="3463106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spc="250">
                <a:solidFill>
                  <a:srgbClr val="3F2305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[CTO Name]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39217" y="7971610"/>
            <a:ext cx="3463106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spc="250">
                <a:solidFill>
                  <a:srgbClr val="3F2305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[Team Member]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4181831"/>
            <a:ext cx="3463106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3F2305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Founder &amp; CEO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00622" y="8591370"/>
            <a:ext cx="1749862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3F2305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Lead Developer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995839" y="4181831"/>
            <a:ext cx="1749862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3F2305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CTO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95839" y="8591370"/>
            <a:ext cx="1749862" cy="43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spc="230">
                <a:solidFill>
                  <a:srgbClr val="3F2305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Medical Advisor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38054" y="7568525"/>
            <a:ext cx="21561208" cy="4608708"/>
          </a:xfrm>
          <a:custGeom>
            <a:avLst/>
            <a:gdLst/>
            <a:ahLst/>
            <a:cxnLst/>
            <a:rect l="l" t="t" r="r" b="b"/>
            <a:pathLst>
              <a:path w="21561208" h="4608708">
                <a:moveTo>
                  <a:pt x="0" y="0"/>
                </a:moveTo>
                <a:lnTo>
                  <a:pt x="21561208" y="0"/>
                </a:lnTo>
                <a:lnTo>
                  <a:pt x="21561208" y="4608708"/>
                </a:lnTo>
                <a:lnTo>
                  <a:pt x="0" y="460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3" name="TextBox 3"/>
          <p:cNvSpPr txBox="1"/>
          <p:nvPr/>
        </p:nvSpPr>
        <p:spPr>
          <a:xfrm>
            <a:off x="1028700" y="1104900"/>
            <a:ext cx="16230600" cy="144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 b="1">
                <a:solidFill>
                  <a:srgbClr val="2B388F"/>
                </a:solidFill>
                <a:latin typeface="Croogla Bold"/>
                <a:ea typeface="Croogla Bold"/>
                <a:cs typeface="Croogla Bold"/>
                <a:sym typeface="Croogla Bold"/>
              </a:rPr>
              <a:t>FINANCIAL PROJECTIONS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98358" y="3489544"/>
            <a:ext cx="13995894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PRICING (Competitive with BD Market):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                            On-Premise (Others)    Ozzyl Cloud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Small Clinic (1-10 bed)    BDT 3-10 lakh one-time   BDT 15K setup + 3-5K/month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Medium Hospital (10-50)    BDT 5-15 lakh one-time   BDT 50K setup + 8-15K/month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Large Hospital (50+)       BDT 10-30 lakh one-time  BDT 1L setup + 20-25K/month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3-YEAR REVENUE PROJECTION (BDT):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                         Year 1        Year 2        Year 3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Hospitals Onboarded         8             25            60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Avg Monthly/Hospital     BDT 8,000     BDT 12,000    BDT 15,000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Hospital Setup Fees      BDT 4 lakh    BDT 12 lakh   BDT 30 lakh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Subscriptions (Annual)   BDT 7.7 lakh  BDT 36 lakh   BDT 1.08 crore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Partner Commissions      BDT 1 lakh    BDT 8 lakh    BDT 25 lakh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AI/Premium               BDT 50K       BDT 5 lakh    BDT 15 lakh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TOTAL ANNUAL REVENUE     BDT 13.2 lakh BDT 61 lakh   BDT 1.78 crore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MRR (Last Month)         BDT 1.5 lakh  BDT 6 lakh    BDT 18 lakh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UNIT ECONOMICS: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• Customer Acquisition Cost: ~BDT 30,000 per hospital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• Lifetime Value (3yr): ~BDT 5 lakh  |  LTV:CAC = 17:1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• Gross Margin: 80%+ (no hardware, serverless infrastructure)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• Cloud Cost per Hospital: ~BDT 500-1,000/month (Cloudflare)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4547" y="478196"/>
            <a:ext cx="14434753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0"/>
              </a:lnSpc>
              <a:spcBef>
                <a:spcPct val="0"/>
              </a:spcBef>
            </a:pPr>
            <a:r>
              <a:rPr lang="en-US" sz="12000" b="1" dirty="0">
                <a:solidFill>
                  <a:srgbClr val="2E3C99"/>
                </a:solidFill>
                <a:latin typeface="Croogla Bold"/>
                <a:ea typeface="Croogla Bold"/>
                <a:cs typeface="Croogla Bold"/>
                <a:sym typeface="Croogla Bold"/>
              </a:rPr>
              <a:t>COMPETITIVE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2749" y="1706921"/>
            <a:ext cx="11326551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599"/>
              </a:lnSpc>
              <a:spcBef>
                <a:spcPct val="0"/>
              </a:spcBef>
            </a:pPr>
            <a:r>
              <a:rPr lang="en-US" sz="9000" b="1">
                <a:solidFill>
                  <a:srgbClr val="191312"/>
                </a:solidFill>
                <a:latin typeface="Croogla Bold"/>
                <a:ea typeface="Croogla Bold"/>
                <a:cs typeface="Croogla Bold"/>
                <a:sym typeface="Croogla Bold"/>
              </a:rPr>
              <a:t>LANDSCAPE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98077" y="4636027"/>
            <a:ext cx="13995894" cy="1897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COMPETITOR COMPARISON: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endParaRPr lang="en-US" sz="4400" dirty="0">
              <a:solidFill>
                <a:srgbClr val="191312"/>
              </a:solidFill>
              <a:latin typeface="Delm"/>
              <a:ea typeface="Delm"/>
              <a:cs typeface="Delm"/>
              <a:sym typeface="Delm"/>
            </a:endParaRP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44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MySoft / Pridesys / Sara HMS (On-Premise)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→ BDT 5-30 lakh setup + BDT 1-3 lakh/year AMC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→ Legacy desktop, no AI, no patient app, no cloud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Arch HMS (Cloud)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→ BDT 3-8K/month subscription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→ Basic cloud HMS, no AI, no ecosystem, no patient app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Praava Health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→ Closed ecosystem (own clinics only), doesn't sell software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DocTime / Sheba.xyz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→ Marketplace only (appointment booking), no HMS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Epic / Cerner (International)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  → $500K+ setup, unaffordable for BD market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OZZYL'S UNFAIR ADVANTAGES: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✓ Only full ecosystem: Patient App + HMS + AI + Partners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✓ AI-powered clinical intelligence (patient health overview)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✓ Universal Health ID — true data portability across hospitals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✓ 50-70% lower TCO vs on-premise (zero hardware)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✓ Bilingual (English + Bengali) from Day 1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9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✓ Working product: 137+ DB migrations, 100+ React components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825852" y="-583527"/>
            <a:ext cx="2432480" cy="1128174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91534" y="102870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9" name="Freeform 9"/>
          <p:cNvSpPr/>
          <p:nvPr/>
        </p:nvSpPr>
        <p:spPr>
          <a:xfrm>
            <a:off x="991534" y="802811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0" name="Freeform 10"/>
          <p:cNvSpPr/>
          <p:nvPr/>
        </p:nvSpPr>
        <p:spPr>
          <a:xfrm rot="5400000">
            <a:off x="337466" y="356884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1" name="Freeform 11"/>
          <p:cNvSpPr/>
          <p:nvPr/>
        </p:nvSpPr>
        <p:spPr>
          <a:xfrm rot="5400000">
            <a:off x="337466" y="6341046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8"/>
                </a:lnTo>
                <a:lnTo>
                  <a:pt x="0" y="368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2" name="Freeform 12"/>
          <p:cNvSpPr/>
          <p:nvPr/>
        </p:nvSpPr>
        <p:spPr>
          <a:xfrm rot="5400000">
            <a:off x="337466" y="-653091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3" name="Freeform 13"/>
          <p:cNvSpPr/>
          <p:nvPr/>
        </p:nvSpPr>
        <p:spPr>
          <a:xfrm rot="5400000">
            <a:off x="337466" y="1058155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40774" y="861891"/>
            <a:ext cx="15566827" cy="139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2E3C99"/>
                </a:solidFill>
                <a:latin typeface="Croogla Bold"/>
                <a:ea typeface="Croogla Bold"/>
                <a:cs typeface="Croogla Bold"/>
                <a:sym typeface="Croogla Bold"/>
              </a:rPr>
              <a:t>GO-TO-MARKET STRATEGY</a:t>
            </a:r>
          </a:p>
        </p:txBody>
      </p:sp>
      <p:sp>
        <p:nvSpPr>
          <p:cNvPr id="3" name="Freeform 3"/>
          <p:cNvSpPr/>
          <p:nvPr/>
        </p:nvSpPr>
        <p:spPr>
          <a:xfrm>
            <a:off x="2806810" y="4195994"/>
            <a:ext cx="3474709" cy="1117411"/>
          </a:xfrm>
          <a:custGeom>
            <a:avLst/>
            <a:gdLst/>
            <a:ahLst/>
            <a:cxnLst/>
            <a:rect l="l" t="t" r="r" b="b"/>
            <a:pathLst>
              <a:path w="3474709" h="1117411">
                <a:moveTo>
                  <a:pt x="0" y="0"/>
                </a:moveTo>
                <a:lnTo>
                  <a:pt x="3474710" y="0"/>
                </a:lnTo>
                <a:lnTo>
                  <a:pt x="3474710" y="1117411"/>
                </a:lnTo>
                <a:lnTo>
                  <a:pt x="0" y="1117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11"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4" name="Freeform 4"/>
          <p:cNvSpPr/>
          <p:nvPr/>
        </p:nvSpPr>
        <p:spPr>
          <a:xfrm>
            <a:off x="6191724" y="4195994"/>
            <a:ext cx="3477975" cy="1117411"/>
          </a:xfrm>
          <a:custGeom>
            <a:avLst/>
            <a:gdLst/>
            <a:ahLst/>
            <a:cxnLst/>
            <a:rect l="l" t="t" r="r" b="b"/>
            <a:pathLst>
              <a:path w="3477975" h="1117411">
                <a:moveTo>
                  <a:pt x="0" y="0"/>
                </a:moveTo>
                <a:lnTo>
                  <a:pt x="3477974" y="0"/>
                </a:lnTo>
                <a:lnTo>
                  <a:pt x="3477974" y="1117411"/>
                </a:lnTo>
                <a:lnTo>
                  <a:pt x="0" y="1117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909"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5" name="TextBox 5"/>
          <p:cNvSpPr txBox="1"/>
          <p:nvPr/>
        </p:nvSpPr>
        <p:spPr>
          <a:xfrm>
            <a:off x="2806810" y="4432737"/>
            <a:ext cx="6862888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5146" dirty="0">
                <a:latin typeface="Delm"/>
                <a:ea typeface="Delm"/>
                <a:cs typeface="Delm"/>
                <a:sym typeface="Delm"/>
              </a:rPr>
              <a:t>Marketing Approach</a:t>
            </a:r>
          </a:p>
        </p:txBody>
      </p:sp>
      <p:sp>
        <p:nvSpPr>
          <p:cNvPr id="6" name="Freeform 6"/>
          <p:cNvSpPr/>
          <p:nvPr/>
        </p:nvSpPr>
        <p:spPr>
          <a:xfrm>
            <a:off x="10378675" y="4195994"/>
            <a:ext cx="3474709" cy="1117411"/>
          </a:xfrm>
          <a:custGeom>
            <a:avLst/>
            <a:gdLst/>
            <a:ahLst/>
            <a:cxnLst/>
            <a:rect l="l" t="t" r="r" b="b"/>
            <a:pathLst>
              <a:path w="3474709" h="1117411">
                <a:moveTo>
                  <a:pt x="0" y="0"/>
                </a:moveTo>
                <a:lnTo>
                  <a:pt x="3474710" y="0"/>
                </a:lnTo>
                <a:lnTo>
                  <a:pt x="3474710" y="1117411"/>
                </a:lnTo>
                <a:lnTo>
                  <a:pt x="0" y="1117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11"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7" name="Freeform 7"/>
          <p:cNvSpPr/>
          <p:nvPr/>
        </p:nvSpPr>
        <p:spPr>
          <a:xfrm>
            <a:off x="13763589" y="4195994"/>
            <a:ext cx="3477975" cy="1117411"/>
          </a:xfrm>
          <a:custGeom>
            <a:avLst/>
            <a:gdLst/>
            <a:ahLst/>
            <a:cxnLst/>
            <a:rect l="l" t="t" r="r" b="b"/>
            <a:pathLst>
              <a:path w="3477975" h="1117411">
                <a:moveTo>
                  <a:pt x="0" y="0"/>
                </a:moveTo>
                <a:lnTo>
                  <a:pt x="3477975" y="0"/>
                </a:lnTo>
                <a:lnTo>
                  <a:pt x="3477975" y="1117411"/>
                </a:lnTo>
                <a:lnTo>
                  <a:pt x="0" y="1117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909"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8" name="TextBox 8"/>
          <p:cNvSpPr txBox="1"/>
          <p:nvPr/>
        </p:nvSpPr>
        <p:spPr>
          <a:xfrm>
            <a:off x="10378675" y="4432737"/>
            <a:ext cx="6862888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5"/>
              </a:lnSpc>
            </a:pPr>
            <a:r>
              <a:rPr lang="en-US" sz="5146" dirty="0">
                <a:latin typeface="Delm"/>
                <a:ea typeface="Delm"/>
                <a:cs typeface="Delm"/>
                <a:sym typeface="Delm"/>
              </a:rPr>
              <a:t>Sales Approach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10028557" y="4195994"/>
            <a:ext cx="0" cy="5807774"/>
          </a:xfrm>
          <a:prstGeom prst="line">
            <a:avLst/>
          </a:prstGeom>
          <a:ln w="47625" cap="rnd">
            <a:solidFill>
              <a:srgbClr val="FFE8C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10" name="TextBox 10"/>
          <p:cNvSpPr txBox="1"/>
          <p:nvPr/>
        </p:nvSpPr>
        <p:spPr>
          <a:xfrm>
            <a:off x="3030611" y="2527328"/>
            <a:ext cx="13995894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Hospital-first approach: onboard hospitals with HMS, patients follow organically.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40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0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Network effects: more hospitals → more patients → more hospitals need Ozzyl.</a:t>
            </a:r>
          </a:p>
        </p:txBody>
      </p:sp>
      <p:sp>
        <p:nvSpPr>
          <p:cNvPr id="14" name="Freeform 14"/>
          <p:cNvSpPr/>
          <p:nvPr/>
        </p:nvSpPr>
        <p:spPr>
          <a:xfrm>
            <a:off x="991534" y="102870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5" name="Freeform 15"/>
          <p:cNvSpPr/>
          <p:nvPr/>
        </p:nvSpPr>
        <p:spPr>
          <a:xfrm>
            <a:off x="991534" y="8028110"/>
            <a:ext cx="1230190" cy="1230190"/>
          </a:xfrm>
          <a:custGeom>
            <a:avLst/>
            <a:gdLst/>
            <a:ahLst/>
            <a:cxnLst/>
            <a:rect l="l" t="t" r="r" b="b"/>
            <a:pathLst>
              <a:path w="1230190" h="1230190">
                <a:moveTo>
                  <a:pt x="0" y="0"/>
                </a:moveTo>
                <a:lnTo>
                  <a:pt x="1230190" y="0"/>
                </a:lnTo>
                <a:lnTo>
                  <a:pt x="1230190" y="1230190"/>
                </a:lnTo>
                <a:lnTo>
                  <a:pt x="0" y="1230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6" name="Freeform 16"/>
          <p:cNvSpPr/>
          <p:nvPr/>
        </p:nvSpPr>
        <p:spPr>
          <a:xfrm rot="5400000">
            <a:off x="337466" y="356884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7" name="Freeform 17"/>
          <p:cNvSpPr/>
          <p:nvPr/>
        </p:nvSpPr>
        <p:spPr>
          <a:xfrm rot="5400000">
            <a:off x="337466" y="6341046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8"/>
                </a:lnTo>
                <a:lnTo>
                  <a:pt x="0" y="368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8" name="Freeform 18"/>
          <p:cNvSpPr/>
          <p:nvPr/>
        </p:nvSpPr>
        <p:spPr>
          <a:xfrm rot="5400000">
            <a:off x="337466" y="-653091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9" name="Freeform 19"/>
          <p:cNvSpPr/>
          <p:nvPr/>
        </p:nvSpPr>
        <p:spPr>
          <a:xfrm rot="5400000">
            <a:off x="337466" y="10581559"/>
            <a:ext cx="2538325" cy="368057"/>
          </a:xfrm>
          <a:custGeom>
            <a:avLst/>
            <a:gdLst/>
            <a:ahLst/>
            <a:cxnLst/>
            <a:rect l="l" t="t" r="r" b="b"/>
            <a:pathLst>
              <a:path w="2538325" h="368057">
                <a:moveTo>
                  <a:pt x="0" y="0"/>
                </a:moveTo>
                <a:lnTo>
                  <a:pt x="2538325" y="0"/>
                </a:lnTo>
                <a:lnTo>
                  <a:pt x="2538325" y="368057"/>
                </a:lnTo>
                <a:lnTo>
                  <a:pt x="0" y="368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20" name="TextBox 19"/>
          <p:cNvSpPr txBox="1"/>
          <p:nvPr/>
        </p:nvSpPr>
        <p:spPr>
          <a:xfrm>
            <a:off x="2806810" y="5400000"/>
            <a:ext cx="6862888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Direct outreach to hospital owners/directors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Free 30-day trial with full features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Social media health awareness campaigns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Hospital success story case studies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Medical conference presence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Referral program for existing hospitals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675" y="5400000"/>
            <a:ext cx="6862888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Phase 1 (M1-6): 8 hospitals, launch app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Phase 2 (M7-12): 25 hospitals, partners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Phase 3 (M13-18): AI features, insurance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Phase 4 (M19-24): Regional expansion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3-month pilot → annual contract model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33333"/>
                </a:solidFill>
                <a:latin typeface="Calibri"/>
              </a:rPr>
              <a:t>• Upsell AI add-ons to existing clients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6017537"/>
            <a:ext cx="4741277" cy="4604966"/>
          </a:xfrm>
          <a:custGeom>
            <a:avLst/>
            <a:gdLst/>
            <a:ahLst/>
            <a:cxnLst/>
            <a:rect l="l" t="t" r="r" b="b"/>
            <a:pathLst>
              <a:path w="4741277" h="4604966">
                <a:moveTo>
                  <a:pt x="4741277" y="0"/>
                </a:moveTo>
                <a:lnTo>
                  <a:pt x="0" y="0"/>
                </a:lnTo>
                <a:lnTo>
                  <a:pt x="0" y="4604965"/>
                </a:lnTo>
                <a:lnTo>
                  <a:pt x="4741277" y="4604965"/>
                </a:lnTo>
                <a:lnTo>
                  <a:pt x="47412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grpSp>
        <p:nvGrpSpPr>
          <p:cNvPr id="3" name="Group 3"/>
          <p:cNvGrpSpPr/>
          <p:nvPr/>
        </p:nvGrpSpPr>
        <p:grpSpPr>
          <a:xfrm>
            <a:off x="1890889" y="4476355"/>
            <a:ext cx="6174380" cy="876731"/>
            <a:chOff x="0" y="0"/>
            <a:chExt cx="1738971" cy="2469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38971" cy="246925"/>
            </a:xfrm>
            <a:custGeom>
              <a:avLst/>
              <a:gdLst/>
              <a:ahLst/>
              <a:cxnLst/>
              <a:rect l="l" t="t" r="r" b="b"/>
              <a:pathLst>
                <a:path w="1738971" h="246925">
                  <a:moveTo>
                    <a:pt x="0" y="0"/>
                  </a:moveTo>
                  <a:lnTo>
                    <a:pt x="1738971" y="0"/>
                  </a:lnTo>
                  <a:lnTo>
                    <a:pt x="1738971" y="246925"/>
                  </a:lnTo>
                  <a:lnTo>
                    <a:pt x="0" y="246925"/>
                  </a:ln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B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738971" cy="3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400" b="1" spc="230" dirty="0">
                  <a:latin typeface="Arimo Bold"/>
                  <a:ea typeface="Arimo Bold"/>
                  <a:cs typeface="Arimo Bold"/>
                  <a:sym typeface="Arimo Bold"/>
                </a:rPr>
                <a:t>Product Development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83832" y="4476355"/>
            <a:ext cx="1294087" cy="876731"/>
            <a:chOff x="0" y="0"/>
            <a:chExt cx="364471" cy="2469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4471" cy="246925"/>
            </a:xfrm>
            <a:custGeom>
              <a:avLst/>
              <a:gdLst/>
              <a:ahLst/>
              <a:cxnLst/>
              <a:rect l="l" t="t" r="r" b="b"/>
              <a:pathLst>
                <a:path w="364471" h="246925">
                  <a:moveTo>
                    <a:pt x="0" y="0"/>
                  </a:moveTo>
                  <a:lnTo>
                    <a:pt x="364471" y="0"/>
                  </a:lnTo>
                  <a:lnTo>
                    <a:pt x="364471" y="246925"/>
                  </a:lnTo>
                  <a:lnTo>
                    <a:pt x="0" y="246925"/>
                  </a:lnTo>
                  <a:close/>
                </a:path>
              </a:pathLst>
            </a:custGeom>
            <a:solidFill>
              <a:srgbClr val="EBA69F"/>
            </a:solidFill>
          </p:spPr>
          <p:txBody>
            <a:bodyPr/>
            <a:lstStyle/>
            <a:p>
              <a:endParaRPr lang="en-B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364471" cy="3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b="1" spc="260">
                  <a:solidFill>
                    <a:srgbClr val="3F230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_%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83832" y="5500605"/>
            <a:ext cx="1294087" cy="876731"/>
            <a:chOff x="0" y="0"/>
            <a:chExt cx="364471" cy="2469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4471" cy="246925"/>
            </a:xfrm>
            <a:custGeom>
              <a:avLst/>
              <a:gdLst/>
              <a:ahLst/>
              <a:cxnLst/>
              <a:rect l="l" t="t" r="r" b="b"/>
              <a:pathLst>
                <a:path w="364471" h="246925">
                  <a:moveTo>
                    <a:pt x="0" y="0"/>
                  </a:moveTo>
                  <a:lnTo>
                    <a:pt x="364471" y="0"/>
                  </a:lnTo>
                  <a:lnTo>
                    <a:pt x="364471" y="246925"/>
                  </a:lnTo>
                  <a:lnTo>
                    <a:pt x="0" y="246925"/>
                  </a:lnTo>
                  <a:close/>
                </a:path>
              </a:pathLst>
            </a:custGeom>
            <a:solidFill>
              <a:srgbClr val="EBA69F"/>
            </a:solidFill>
          </p:spPr>
          <p:txBody>
            <a:bodyPr/>
            <a:lstStyle/>
            <a:p>
              <a:endParaRPr lang="en-B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64471" cy="3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b="1" spc="260">
                  <a:solidFill>
                    <a:srgbClr val="3F230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_%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90889" y="5500605"/>
            <a:ext cx="6174380" cy="876731"/>
            <a:chOff x="0" y="0"/>
            <a:chExt cx="1738971" cy="2469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38971" cy="246925"/>
            </a:xfrm>
            <a:custGeom>
              <a:avLst/>
              <a:gdLst/>
              <a:ahLst/>
              <a:cxnLst/>
              <a:rect l="l" t="t" r="r" b="b"/>
              <a:pathLst>
                <a:path w="1738971" h="246925">
                  <a:moveTo>
                    <a:pt x="0" y="0"/>
                  </a:moveTo>
                  <a:lnTo>
                    <a:pt x="1738971" y="0"/>
                  </a:lnTo>
                  <a:lnTo>
                    <a:pt x="1738971" y="246925"/>
                  </a:lnTo>
                  <a:lnTo>
                    <a:pt x="0" y="246925"/>
                  </a:ln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B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738971" cy="3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400" b="1" spc="230" dirty="0">
                  <a:latin typeface="Arimo Bold"/>
                  <a:ea typeface="Arimo Bold"/>
                  <a:cs typeface="Arimo Bold"/>
                  <a:sym typeface="Arimo Bold"/>
                </a:rPr>
                <a:t>Marketing and Sales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90889" y="6555170"/>
            <a:ext cx="6174380" cy="876731"/>
            <a:chOff x="0" y="0"/>
            <a:chExt cx="1738971" cy="2469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38971" cy="246925"/>
            </a:xfrm>
            <a:custGeom>
              <a:avLst/>
              <a:gdLst/>
              <a:ahLst/>
              <a:cxnLst/>
              <a:rect l="l" t="t" r="r" b="b"/>
              <a:pathLst>
                <a:path w="1738971" h="246925">
                  <a:moveTo>
                    <a:pt x="0" y="0"/>
                  </a:moveTo>
                  <a:lnTo>
                    <a:pt x="1738971" y="0"/>
                  </a:lnTo>
                  <a:lnTo>
                    <a:pt x="1738971" y="246925"/>
                  </a:lnTo>
                  <a:lnTo>
                    <a:pt x="0" y="246925"/>
                  </a:ln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B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738971" cy="3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400" b="1" spc="230" dirty="0">
                  <a:latin typeface="Arimo Bold"/>
                  <a:ea typeface="Arimo Bold"/>
                  <a:cs typeface="Arimo Bold"/>
                  <a:sym typeface="Arimo Bold"/>
                </a:rPr>
                <a:t>Infrastructure and Operations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890889" y="7610045"/>
            <a:ext cx="6174380" cy="876731"/>
            <a:chOff x="0" y="0"/>
            <a:chExt cx="1738971" cy="2469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38971" cy="246925"/>
            </a:xfrm>
            <a:custGeom>
              <a:avLst/>
              <a:gdLst/>
              <a:ahLst/>
              <a:cxnLst/>
              <a:rect l="l" t="t" r="r" b="b"/>
              <a:pathLst>
                <a:path w="1738971" h="246925">
                  <a:moveTo>
                    <a:pt x="0" y="0"/>
                  </a:moveTo>
                  <a:lnTo>
                    <a:pt x="1738971" y="0"/>
                  </a:lnTo>
                  <a:lnTo>
                    <a:pt x="1738971" y="246925"/>
                  </a:lnTo>
                  <a:lnTo>
                    <a:pt x="0" y="246925"/>
                  </a:lnTo>
                  <a:close/>
                </a:path>
              </a:pathLst>
            </a:custGeom>
            <a:solidFill>
              <a:srgbClr val="FFBD59"/>
            </a:solidFill>
          </p:spPr>
          <p:txBody>
            <a:bodyPr/>
            <a:lstStyle/>
            <a:p>
              <a:endParaRPr lang="en-B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738971" cy="3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400" b="1" spc="230" dirty="0">
                  <a:latin typeface="Arimo Bold"/>
                  <a:ea typeface="Arimo Bold"/>
                  <a:cs typeface="Arimo Bold"/>
                  <a:sym typeface="Arimo Bold"/>
                </a:rPr>
                <a:t>Expansion and Growth Initiatives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83832" y="6555170"/>
            <a:ext cx="1294087" cy="876731"/>
            <a:chOff x="0" y="0"/>
            <a:chExt cx="364471" cy="2469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4471" cy="246925"/>
            </a:xfrm>
            <a:custGeom>
              <a:avLst/>
              <a:gdLst/>
              <a:ahLst/>
              <a:cxnLst/>
              <a:rect l="l" t="t" r="r" b="b"/>
              <a:pathLst>
                <a:path w="364471" h="246925">
                  <a:moveTo>
                    <a:pt x="0" y="0"/>
                  </a:moveTo>
                  <a:lnTo>
                    <a:pt x="364471" y="0"/>
                  </a:lnTo>
                  <a:lnTo>
                    <a:pt x="364471" y="246925"/>
                  </a:lnTo>
                  <a:lnTo>
                    <a:pt x="0" y="246925"/>
                  </a:lnTo>
                  <a:close/>
                </a:path>
              </a:pathLst>
            </a:custGeom>
            <a:solidFill>
              <a:srgbClr val="EBA69F"/>
            </a:solidFill>
          </p:spPr>
          <p:txBody>
            <a:bodyPr/>
            <a:lstStyle/>
            <a:p>
              <a:endParaRPr lang="en-B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364471" cy="3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b="1" spc="260">
                  <a:solidFill>
                    <a:srgbClr val="3F230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_%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83832" y="7610045"/>
            <a:ext cx="1294087" cy="876731"/>
            <a:chOff x="0" y="0"/>
            <a:chExt cx="364471" cy="2469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4471" cy="246925"/>
            </a:xfrm>
            <a:custGeom>
              <a:avLst/>
              <a:gdLst/>
              <a:ahLst/>
              <a:cxnLst/>
              <a:rect l="l" t="t" r="r" b="b"/>
              <a:pathLst>
                <a:path w="364471" h="246925">
                  <a:moveTo>
                    <a:pt x="0" y="0"/>
                  </a:moveTo>
                  <a:lnTo>
                    <a:pt x="364471" y="0"/>
                  </a:lnTo>
                  <a:lnTo>
                    <a:pt x="364471" y="246925"/>
                  </a:lnTo>
                  <a:lnTo>
                    <a:pt x="0" y="246925"/>
                  </a:lnTo>
                  <a:close/>
                </a:path>
              </a:pathLst>
            </a:custGeom>
            <a:solidFill>
              <a:srgbClr val="EBA69F"/>
            </a:solidFill>
          </p:spPr>
          <p:txBody>
            <a:bodyPr/>
            <a:lstStyle/>
            <a:p>
              <a:endParaRPr lang="en-BD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364471" cy="31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b="1" spc="260">
                  <a:solidFill>
                    <a:srgbClr val="3F230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_%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flipH="1" flipV="1">
            <a:off x="729251" y="0"/>
            <a:ext cx="0" cy="2335379"/>
          </a:xfrm>
          <a:prstGeom prst="line">
            <a:avLst/>
          </a:prstGeom>
          <a:ln w="38100" cap="flat">
            <a:solidFill>
              <a:srgbClr val="FFBD59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BD"/>
          </a:p>
        </p:txBody>
      </p:sp>
      <p:sp>
        <p:nvSpPr>
          <p:cNvPr id="29" name="TextBox 29"/>
          <p:cNvSpPr txBox="1"/>
          <p:nvPr/>
        </p:nvSpPr>
        <p:spPr>
          <a:xfrm>
            <a:off x="1028700" y="1030454"/>
            <a:ext cx="16510999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>
                <a:solidFill>
                  <a:srgbClr val="2B388F"/>
                </a:solidFill>
                <a:latin typeface="Croogla Bold"/>
                <a:ea typeface="Croogla Bold"/>
                <a:cs typeface="Croogla Bold"/>
                <a:sym typeface="Croogla Bold"/>
              </a:rPr>
              <a:t>USE OF FUNDS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73005" y="2631270"/>
            <a:ext cx="15866694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1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We are seeking BDT 10 lakh (maximum available fund) to accelerate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1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hospital onboarding, product polish, and initial marketing.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1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/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1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Expected ROI: With 8 hospitals onboarded in Year 1 at avg BDT 8,000/month,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1100" dirty="0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annual revenue reaches BDT 13+ lakh — achieving fund payback within 12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09600" y="2628900"/>
            <a:ext cx="8039514" cy="297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19"/>
              </a:lnSpc>
              <a:spcBef>
                <a:spcPct val="0"/>
              </a:spcBef>
            </a:pPr>
            <a:r>
              <a:rPr lang="en-US" sz="17156" b="1" dirty="0">
                <a:solidFill>
                  <a:srgbClr val="2B388F"/>
                </a:solidFill>
                <a:latin typeface="Croogla Bold"/>
                <a:ea typeface="Croogla Bold"/>
                <a:cs typeface="Croogla Bold"/>
                <a:sym typeface="Croogla Bold"/>
              </a:rPr>
              <a:t>THANK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143000" y="4941363"/>
            <a:ext cx="8039514" cy="212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156"/>
              </a:lnSpc>
              <a:spcBef>
                <a:spcPct val="0"/>
              </a:spcBef>
            </a:pPr>
            <a:r>
              <a:rPr lang="en-US" sz="12254" b="1" dirty="0">
                <a:solidFill>
                  <a:srgbClr val="191312"/>
                </a:solidFill>
                <a:latin typeface="Croogla Bold"/>
                <a:ea typeface="Croogla Bold"/>
                <a:cs typeface="Croogla Bold"/>
                <a:sym typeface="Croogla Bold"/>
              </a:rPr>
              <a:t>YOU</a:t>
            </a:r>
          </a:p>
        </p:txBody>
      </p:sp>
      <p:sp>
        <p:nvSpPr>
          <p:cNvPr id="7" name="Freeform 7"/>
          <p:cNvSpPr/>
          <p:nvPr/>
        </p:nvSpPr>
        <p:spPr>
          <a:xfrm>
            <a:off x="16581222" y="982093"/>
            <a:ext cx="678078" cy="678078"/>
          </a:xfrm>
          <a:custGeom>
            <a:avLst/>
            <a:gdLst/>
            <a:ahLst/>
            <a:cxnLst/>
            <a:rect l="l" t="t" r="r" b="b"/>
            <a:pathLst>
              <a:path w="678078" h="678078">
                <a:moveTo>
                  <a:pt x="0" y="0"/>
                </a:moveTo>
                <a:lnTo>
                  <a:pt x="678078" y="0"/>
                </a:lnTo>
                <a:lnTo>
                  <a:pt x="678078" y="678078"/>
                </a:lnTo>
                <a:lnTo>
                  <a:pt x="0" y="678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8" name="Freeform 8"/>
          <p:cNvSpPr/>
          <p:nvPr/>
        </p:nvSpPr>
        <p:spPr>
          <a:xfrm>
            <a:off x="13310251" y="6253818"/>
            <a:ext cx="3949049" cy="646657"/>
          </a:xfrm>
          <a:custGeom>
            <a:avLst/>
            <a:gdLst/>
            <a:ahLst/>
            <a:cxnLst/>
            <a:rect l="l" t="t" r="r" b="b"/>
            <a:pathLst>
              <a:path w="3949049" h="646657">
                <a:moveTo>
                  <a:pt x="0" y="0"/>
                </a:moveTo>
                <a:lnTo>
                  <a:pt x="3949049" y="0"/>
                </a:lnTo>
                <a:lnTo>
                  <a:pt x="3949049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9" name="Freeform 9"/>
          <p:cNvSpPr/>
          <p:nvPr/>
        </p:nvSpPr>
        <p:spPr>
          <a:xfrm rot="-10800000">
            <a:off x="16612643" y="6253818"/>
            <a:ext cx="646657" cy="646657"/>
          </a:xfrm>
          <a:custGeom>
            <a:avLst/>
            <a:gdLst/>
            <a:ahLst/>
            <a:cxnLst/>
            <a:rect l="l" t="t" r="r" b="b"/>
            <a:pathLst>
              <a:path w="646657" h="646657">
                <a:moveTo>
                  <a:pt x="0" y="0"/>
                </a:moveTo>
                <a:lnTo>
                  <a:pt x="646657" y="0"/>
                </a:lnTo>
                <a:lnTo>
                  <a:pt x="646657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0" name="Freeform 10"/>
          <p:cNvSpPr/>
          <p:nvPr/>
        </p:nvSpPr>
        <p:spPr>
          <a:xfrm>
            <a:off x="11595562" y="6253818"/>
            <a:ext cx="3131387" cy="646657"/>
          </a:xfrm>
          <a:custGeom>
            <a:avLst/>
            <a:gdLst/>
            <a:ahLst/>
            <a:cxnLst/>
            <a:rect l="l" t="t" r="r" b="b"/>
            <a:pathLst>
              <a:path w="3131387" h="646657">
                <a:moveTo>
                  <a:pt x="0" y="0"/>
                </a:moveTo>
                <a:lnTo>
                  <a:pt x="3131388" y="0"/>
                </a:lnTo>
                <a:lnTo>
                  <a:pt x="3131388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26111"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1" name="Freeform 11"/>
          <p:cNvSpPr/>
          <p:nvPr/>
        </p:nvSpPr>
        <p:spPr>
          <a:xfrm>
            <a:off x="13310251" y="6973268"/>
            <a:ext cx="3949049" cy="646657"/>
          </a:xfrm>
          <a:custGeom>
            <a:avLst/>
            <a:gdLst/>
            <a:ahLst/>
            <a:cxnLst/>
            <a:rect l="l" t="t" r="r" b="b"/>
            <a:pathLst>
              <a:path w="3949049" h="646657">
                <a:moveTo>
                  <a:pt x="0" y="0"/>
                </a:moveTo>
                <a:lnTo>
                  <a:pt x="3949049" y="0"/>
                </a:lnTo>
                <a:lnTo>
                  <a:pt x="3949049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2" name="Freeform 12"/>
          <p:cNvSpPr/>
          <p:nvPr/>
        </p:nvSpPr>
        <p:spPr>
          <a:xfrm rot="-10800000">
            <a:off x="16612643" y="6973268"/>
            <a:ext cx="646657" cy="646657"/>
          </a:xfrm>
          <a:custGeom>
            <a:avLst/>
            <a:gdLst/>
            <a:ahLst/>
            <a:cxnLst/>
            <a:rect l="l" t="t" r="r" b="b"/>
            <a:pathLst>
              <a:path w="646657" h="646657">
                <a:moveTo>
                  <a:pt x="0" y="0"/>
                </a:moveTo>
                <a:lnTo>
                  <a:pt x="646657" y="0"/>
                </a:lnTo>
                <a:lnTo>
                  <a:pt x="646657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3" name="Freeform 13"/>
          <p:cNvSpPr/>
          <p:nvPr/>
        </p:nvSpPr>
        <p:spPr>
          <a:xfrm>
            <a:off x="11595562" y="6973268"/>
            <a:ext cx="3131387" cy="646657"/>
          </a:xfrm>
          <a:custGeom>
            <a:avLst/>
            <a:gdLst/>
            <a:ahLst/>
            <a:cxnLst/>
            <a:rect l="l" t="t" r="r" b="b"/>
            <a:pathLst>
              <a:path w="3131387" h="646657">
                <a:moveTo>
                  <a:pt x="0" y="0"/>
                </a:moveTo>
                <a:lnTo>
                  <a:pt x="3131388" y="0"/>
                </a:lnTo>
                <a:lnTo>
                  <a:pt x="3131388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26111"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4" name="Freeform 14"/>
          <p:cNvSpPr/>
          <p:nvPr/>
        </p:nvSpPr>
        <p:spPr>
          <a:xfrm>
            <a:off x="13310251" y="7692718"/>
            <a:ext cx="3949049" cy="646657"/>
          </a:xfrm>
          <a:custGeom>
            <a:avLst/>
            <a:gdLst/>
            <a:ahLst/>
            <a:cxnLst/>
            <a:rect l="l" t="t" r="r" b="b"/>
            <a:pathLst>
              <a:path w="3949049" h="646657">
                <a:moveTo>
                  <a:pt x="0" y="0"/>
                </a:moveTo>
                <a:lnTo>
                  <a:pt x="3949049" y="0"/>
                </a:lnTo>
                <a:lnTo>
                  <a:pt x="3949049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5" name="Freeform 15"/>
          <p:cNvSpPr/>
          <p:nvPr/>
        </p:nvSpPr>
        <p:spPr>
          <a:xfrm rot="-10800000">
            <a:off x="16612643" y="7692718"/>
            <a:ext cx="646657" cy="646657"/>
          </a:xfrm>
          <a:custGeom>
            <a:avLst/>
            <a:gdLst/>
            <a:ahLst/>
            <a:cxnLst/>
            <a:rect l="l" t="t" r="r" b="b"/>
            <a:pathLst>
              <a:path w="646657" h="646657">
                <a:moveTo>
                  <a:pt x="0" y="0"/>
                </a:moveTo>
                <a:lnTo>
                  <a:pt x="646657" y="0"/>
                </a:lnTo>
                <a:lnTo>
                  <a:pt x="646657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6" name="Freeform 16"/>
          <p:cNvSpPr/>
          <p:nvPr/>
        </p:nvSpPr>
        <p:spPr>
          <a:xfrm>
            <a:off x="11595562" y="7692718"/>
            <a:ext cx="3131387" cy="646657"/>
          </a:xfrm>
          <a:custGeom>
            <a:avLst/>
            <a:gdLst/>
            <a:ahLst/>
            <a:cxnLst/>
            <a:rect l="l" t="t" r="r" b="b"/>
            <a:pathLst>
              <a:path w="3131387" h="646657">
                <a:moveTo>
                  <a:pt x="0" y="0"/>
                </a:moveTo>
                <a:lnTo>
                  <a:pt x="3131388" y="0"/>
                </a:lnTo>
                <a:lnTo>
                  <a:pt x="3131388" y="646657"/>
                </a:lnTo>
                <a:lnTo>
                  <a:pt x="0" y="646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26111"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7" name="Freeform 17"/>
          <p:cNvSpPr/>
          <p:nvPr/>
        </p:nvSpPr>
        <p:spPr>
          <a:xfrm>
            <a:off x="13310251" y="8412168"/>
            <a:ext cx="3949049" cy="646657"/>
          </a:xfrm>
          <a:custGeom>
            <a:avLst/>
            <a:gdLst/>
            <a:ahLst/>
            <a:cxnLst/>
            <a:rect l="l" t="t" r="r" b="b"/>
            <a:pathLst>
              <a:path w="3949049" h="646657">
                <a:moveTo>
                  <a:pt x="0" y="0"/>
                </a:moveTo>
                <a:lnTo>
                  <a:pt x="3949049" y="0"/>
                </a:lnTo>
                <a:lnTo>
                  <a:pt x="3949049" y="646656"/>
                </a:lnTo>
                <a:lnTo>
                  <a:pt x="0" y="646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8" name="Freeform 18"/>
          <p:cNvSpPr/>
          <p:nvPr/>
        </p:nvSpPr>
        <p:spPr>
          <a:xfrm rot="-10800000">
            <a:off x="16612643" y="8412168"/>
            <a:ext cx="646657" cy="646657"/>
          </a:xfrm>
          <a:custGeom>
            <a:avLst/>
            <a:gdLst/>
            <a:ahLst/>
            <a:cxnLst/>
            <a:rect l="l" t="t" r="r" b="b"/>
            <a:pathLst>
              <a:path w="646657" h="646657">
                <a:moveTo>
                  <a:pt x="0" y="0"/>
                </a:moveTo>
                <a:lnTo>
                  <a:pt x="646657" y="0"/>
                </a:lnTo>
                <a:lnTo>
                  <a:pt x="646657" y="646656"/>
                </a:lnTo>
                <a:lnTo>
                  <a:pt x="0" y="646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19" name="Freeform 19"/>
          <p:cNvSpPr/>
          <p:nvPr/>
        </p:nvSpPr>
        <p:spPr>
          <a:xfrm>
            <a:off x="11595562" y="8412168"/>
            <a:ext cx="3131387" cy="646657"/>
          </a:xfrm>
          <a:custGeom>
            <a:avLst/>
            <a:gdLst/>
            <a:ahLst/>
            <a:cxnLst/>
            <a:rect l="l" t="t" r="r" b="b"/>
            <a:pathLst>
              <a:path w="3131387" h="646657">
                <a:moveTo>
                  <a:pt x="0" y="0"/>
                </a:moveTo>
                <a:lnTo>
                  <a:pt x="3131388" y="0"/>
                </a:lnTo>
                <a:lnTo>
                  <a:pt x="3131388" y="646656"/>
                </a:lnTo>
                <a:lnTo>
                  <a:pt x="0" y="646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26111"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21" name="Freeform 21"/>
          <p:cNvSpPr/>
          <p:nvPr/>
        </p:nvSpPr>
        <p:spPr>
          <a:xfrm>
            <a:off x="16760580" y="6348623"/>
            <a:ext cx="350783" cy="457046"/>
          </a:xfrm>
          <a:custGeom>
            <a:avLst/>
            <a:gdLst/>
            <a:ahLst/>
            <a:cxnLst/>
            <a:rect l="l" t="t" r="r" b="b"/>
            <a:pathLst>
              <a:path w="350783" h="457046">
                <a:moveTo>
                  <a:pt x="0" y="0"/>
                </a:moveTo>
                <a:lnTo>
                  <a:pt x="350783" y="0"/>
                </a:lnTo>
                <a:lnTo>
                  <a:pt x="350783" y="457047"/>
                </a:lnTo>
                <a:lnTo>
                  <a:pt x="0" y="4570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22" name="Freeform 22"/>
          <p:cNvSpPr/>
          <p:nvPr/>
        </p:nvSpPr>
        <p:spPr>
          <a:xfrm>
            <a:off x="16705566" y="7066191"/>
            <a:ext cx="460810" cy="460810"/>
          </a:xfrm>
          <a:custGeom>
            <a:avLst/>
            <a:gdLst/>
            <a:ahLst/>
            <a:cxnLst/>
            <a:rect l="l" t="t" r="r" b="b"/>
            <a:pathLst>
              <a:path w="460810" h="460810">
                <a:moveTo>
                  <a:pt x="0" y="0"/>
                </a:moveTo>
                <a:lnTo>
                  <a:pt x="460811" y="0"/>
                </a:lnTo>
                <a:lnTo>
                  <a:pt x="460811" y="460811"/>
                </a:lnTo>
                <a:lnTo>
                  <a:pt x="0" y="4608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23" name="Freeform 23"/>
          <p:cNvSpPr/>
          <p:nvPr/>
        </p:nvSpPr>
        <p:spPr>
          <a:xfrm>
            <a:off x="16711464" y="7883306"/>
            <a:ext cx="449014" cy="265480"/>
          </a:xfrm>
          <a:custGeom>
            <a:avLst/>
            <a:gdLst/>
            <a:ahLst/>
            <a:cxnLst/>
            <a:rect l="l" t="t" r="r" b="b"/>
            <a:pathLst>
              <a:path w="449014" h="265480">
                <a:moveTo>
                  <a:pt x="0" y="0"/>
                </a:moveTo>
                <a:lnTo>
                  <a:pt x="449015" y="0"/>
                </a:lnTo>
                <a:lnTo>
                  <a:pt x="449015" y="265480"/>
                </a:lnTo>
                <a:lnTo>
                  <a:pt x="0" y="2654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24" name="Freeform 24"/>
          <p:cNvSpPr/>
          <p:nvPr/>
        </p:nvSpPr>
        <p:spPr>
          <a:xfrm>
            <a:off x="16798240" y="8484505"/>
            <a:ext cx="275463" cy="501982"/>
          </a:xfrm>
          <a:custGeom>
            <a:avLst/>
            <a:gdLst/>
            <a:ahLst/>
            <a:cxnLst/>
            <a:rect l="l" t="t" r="r" b="b"/>
            <a:pathLst>
              <a:path w="275463" h="501982">
                <a:moveTo>
                  <a:pt x="0" y="0"/>
                </a:moveTo>
                <a:lnTo>
                  <a:pt x="275463" y="0"/>
                </a:lnTo>
                <a:lnTo>
                  <a:pt x="275463" y="501982"/>
                </a:lnTo>
                <a:lnTo>
                  <a:pt x="0" y="5019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BD"/>
          </a:p>
        </p:txBody>
      </p:sp>
      <p:sp>
        <p:nvSpPr>
          <p:cNvPr id="25" name="TextBox 25"/>
          <p:cNvSpPr txBox="1"/>
          <p:nvPr/>
        </p:nvSpPr>
        <p:spPr>
          <a:xfrm>
            <a:off x="12277215" y="1016350"/>
            <a:ext cx="402778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91312"/>
                </a:solidFill>
                <a:latin typeface="Croogla"/>
                <a:ea typeface="Croogla"/>
                <a:cs typeface="Croogla"/>
                <a:sym typeface="Croogla"/>
              </a:rPr>
              <a:t>OZZYL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95562" y="6295125"/>
            <a:ext cx="4709434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19"/>
              </a:lnSpc>
            </a:pPr>
            <a:r>
              <a:rPr lang="en-US" sz="3299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[Your Phone]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95562" y="7014575"/>
            <a:ext cx="4709434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19"/>
              </a:lnSpc>
            </a:pPr>
            <a:r>
              <a:rPr lang="en-US" sz="3299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ozzyl.com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95562" y="7734225"/>
            <a:ext cx="4709434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19"/>
              </a:lnSpc>
            </a:pPr>
            <a:r>
              <a:rPr lang="en-US" sz="3299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[your@email.com]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95562" y="8453675"/>
            <a:ext cx="4709434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19"/>
              </a:lnSpc>
            </a:pPr>
            <a:r>
              <a:rPr lang="en-US" sz="3299">
                <a:solidFill>
                  <a:srgbClr val="191312"/>
                </a:solidFill>
                <a:latin typeface="Delm"/>
                <a:ea typeface="Delm"/>
                <a:cs typeface="Delm"/>
                <a:sym typeface="Delm"/>
              </a:rPr>
              <a:t>Dhaka, Bangladesh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274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Delm</vt:lpstr>
      <vt:lpstr>Arimo Bold</vt:lpstr>
      <vt:lpstr>Gabriel Sans Bold</vt:lpstr>
      <vt:lpstr>Croogla Bold</vt:lpstr>
      <vt:lpstr>Arial</vt:lpstr>
      <vt:lpstr>Croogla</vt:lpstr>
      <vt:lpstr>Calibri</vt:lpstr>
      <vt:lpstr>Segoe UI</vt:lpstr>
      <vt:lpstr>Gabriel Sans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Pitch Deck Template</dc:title>
  <dc:creator>ICT</dc:creator>
  <cp:lastModifiedBy>dr ap</cp:lastModifiedBy>
  <cp:revision>6</cp:revision>
  <dcterms:created xsi:type="dcterms:W3CDTF">2006-08-16T00:00:00Z</dcterms:created>
  <dcterms:modified xsi:type="dcterms:W3CDTF">2025-05-13T10:04:34Z</dcterms:modified>
  <dc:identifier>DAGYNi2qa-w</dc:identifier>
</cp:coreProperties>
</file>